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Inter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2B896F-B09F-4211-B172-D5858EAF1AA7}">
  <a:tblStyle styleId="{302B896F-B09F-4211-B172-D5858EAF1A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Inter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Inter-italic.fntdata"/><Relationship Id="rId14" Type="http://schemas.openxmlformats.org/officeDocument/2006/relationships/slide" Target="slides/slide8.xml"/><Relationship Id="rId36" Type="http://schemas.openxmlformats.org/officeDocument/2006/relationships/font" Target="fonts/Inter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Inter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3c01d47f3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f3c01d47f3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f3c01d47f3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49cb922a79_1_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249cb922a79_1_2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249cb922a79_1_2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3c33c4c34_0_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f3c33c4c34_0_1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f3c33c4c34_0_1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3c01d47f3_0_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f3c01d47f3_0_1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f3c01d47f3_0_1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3c33c4c34_0_9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f3c33c4c34_0_9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f3c33c4c34_0_9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3c01d47f3_0_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f3c01d47f3_0_2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3c01d47f3_0_2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57961fdb7_1_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f57961fdb7_1_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57961fdb7_1_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49cb922a79_1_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249cb922a79_1_5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249cb922a79_1_5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5273f6eb2_0_1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f5273f6eb2_0_12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5273f6eb2_0_12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5273f6eb2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5273f6eb2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f5273f6eb2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49cb922a79_1_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249cb922a79_1_6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249cb922a79_1_6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5273f6eb2_0_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5273f6eb2_0_3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5273f6eb2_0_3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49cb922a79_1_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249cb922a79_1_9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249cb922a79_1_9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57961fdb7_1_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f57961fdb7_1_3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57961fdb7_1_3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5273f6eb2_0_17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f5273f6eb2_0_17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f5273f6eb2_0_17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57961fdb7_1_4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f57961fdb7_1_4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f57961fdb7_1_4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57961fdb7_1_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f57961fdb7_1_2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f57961fdb7_1_2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5455bcc88_0_6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f5455bcc88_0_6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f5455bcc88_0_6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57961fdb7_1_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f57961fdb7_1_2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f57961fdb7_1_2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9cb922a79_1_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249cb922a79_1_5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249cb922a79_1_5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5273f6eb2_0_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f5273f6eb2_0_4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f5273f6eb2_0_4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5273f6eb2_0_3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f5273f6eb2_0_30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f5273f6eb2_0_30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536058fea_0_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f536058fea_0_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f536058fea_0_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57961fdb7_1_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f57961fdb7_1_6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f57961fdb7_1_6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3c33c4c34_0_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f3c33c4c34_0_4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3c33c4c34_0_4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5455bcc88_0_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f5455bcc88_0_7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f5455bcc88_0_7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49cb922a79_1_1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249cb922a79_1_16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249cb922a79_1_16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5455bcc88_0_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f5455bcc88_0_9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f5455bcc88_0_9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Титульный слайд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hyperlink" Target="http://drive.google.com/file/d/1xK_qzqM34_Sq6Aeoq_H09Tz1SER2N-kj/view" TargetMode="External"/><Relationship Id="rId5" Type="http://schemas.openxmlformats.org/officeDocument/2006/relationships/image" Target="../media/image1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476250" y="1178125"/>
            <a:ext cx="8083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800"/>
              <a:t>Ecopulse</a:t>
            </a:r>
            <a:endParaRPr b="1" sz="3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/>
              <a:t>Система мониторинга социально-экологической репутации на основе NLP</a:t>
            </a:r>
            <a:endParaRPr b="1" sz="2200"/>
          </a:p>
        </p:txBody>
      </p:sp>
      <p:sp>
        <p:nvSpPr>
          <p:cNvPr id="62" name="Google Shape;62;p15"/>
          <p:cNvSpPr/>
          <p:nvPr/>
        </p:nvSpPr>
        <p:spPr>
          <a:xfrm>
            <a:off x="476250" y="2720225"/>
            <a:ext cx="322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Inter"/>
                <a:ea typeface="Inter"/>
                <a:cs typeface="Inter"/>
                <a:sym typeface="Inter"/>
              </a:rPr>
              <a:t>Кибенко Дарья 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https://pitch-assets-ccb95893-de3f-4266-973c-20049231b248.s3.eu-west-1.amazonaws.com/a5c40d53-4e0d-4f44-9ae8-c5e406dccd80?pitch-bytes=2984&amp;pitch-content-type=image%2Fsvg%2Bxml" id="63" name="Google Shape;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2435" y="4530300"/>
            <a:ext cx="1674809" cy="1377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eec22bbc-fe01-4bc0-8ced-99f7d0962966?pitch-bytes=4899&amp;pitch-content-type=image%2Fsvg%2Bxml" id="64" name="Google Shape;6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02" y="4476758"/>
            <a:ext cx="707491" cy="191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476275" y="1433400"/>
            <a:ext cx="8150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PR-команды</a:t>
            </a:r>
            <a:r>
              <a:rPr lang="ru" sz="1100">
                <a:solidFill>
                  <a:schemeClr val="dk1"/>
                </a:solidFill>
              </a:rPr>
              <a:t> </a:t>
            </a:r>
            <a:r>
              <a:rPr b="1" lang="ru" sz="1100">
                <a:solidFill>
                  <a:schemeClr val="dk1"/>
                </a:solidFill>
              </a:rPr>
              <a:t>узнают</a:t>
            </a:r>
            <a:r>
              <a:rPr lang="ru" sz="1100">
                <a:solidFill>
                  <a:schemeClr val="dk1"/>
                </a:solidFill>
              </a:rPr>
              <a:t> о локальных инцидентах (экология, трудовые конфликты) </a:t>
            </a:r>
            <a:r>
              <a:rPr b="1" lang="ru" sz="1100">
                <a:solidFill>
                  <a:schemeClr val="dk1"/>
                </a:solidFill>
              </a:rPr>
              <a:t>с опозданием</a:t>
            </a:r>
            <a:r>
              <a:rPr lang="ru" sz="1100">
                <a:solidFill>
                  <a:schemeClr val="dk1"/>
                </a:solidFill>
              </a:rPr>
              <a:t> на </a:t>
            </a:r>
            <a:r>
              <a:rPr b="1" lang="ru" sz="1100">
                <a:solidFill>
                  <a:schemeClr val="dk1"/>
                </a:solidFill>
              </a:rPr>
              <a:t>2-3 суток</a:t>
            </a:r>
            <a:r>
              <a:rPr lang="ru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           </a:t>
            </a:r>
            <a:r>
              <a:rPr b="1" lang="ru" sz="1100">
                <a:solidFill>
                  <a:schemeClr val="dk1"/>
                </a:solidFill>
              </a:rPr>
              <a:t>Что происходит</a:t>
            </a:r>
            <a:r>
              <a:rPr lang="ru" sz="1100">
                <a:solidFill>
                  <a:schemeClr val="dk1"/>
                </a:solidFill>
              </a:rPr>
              <a:t>: Информация сначала появляется в малых Telegram-каналах (500-3000 чел.)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00">
                <a:solidFill>
                  <a:schemeClr val="dk1"/>
                </a:solidFill>
              </a:rPr>
              <a:t>           Итог:</a:t>
            </a:r>
            <a:r>
              <a:rPr lang="ru" sz="1100">
                <a:solidFill>
                  <a:schemeClr val="dk1"/>
                </a:solidFill>
              </a:rPr>
              <a:t> К моменту обнаружения скандал уже вышел в федеральные СМИ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100">
                <a:solidFill>
                  <a:schemeClr val="dk1"/>
                </a:solidFill>
              </a:rPr>
              <a:t>           Цена:</a:t>
            </a:r>
            <a:r>
              <a:rPr lang="ru" sz="1100">
                <a:solidFill>
                  <a:schemeClr val="dk1"/>
                </a:solidFill>
              </a:rPr>
              <a:t> Стоимость кризисного реагирования растет экспоненциально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100">
                <a:solidFill>
                  <a:schemeClr val="dk1"/>
                </a:solidFill>
              </a:rPr>
              <a:t>Финансовые последствия задержки: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100">
                <a:solidFill>
                  <a:schemeClr val="dk1"/>
                </a:solidFill>
              </a:rPr>
              <a:t>           </a:t>
            </a:r>
            <a:r>
              <a:rPr lang="ru" sz="1100">
                <a:solidFill>
                  <a:schemeClr val="dk1"/>
                </a:solidFill>
              </a:rPr>
              <a:t>Штрафы Росприроднадзора могут вырасти в </a:t>
            </a:r>
            <a:r>
              <a:rPr b="1" lang="ru" sz="1100">
                <a:solidFill>
                  <a:schemeClr val="dk1"/>
                </a:solidFill>
              </a:rPr>
              <a:t>3-5 раз</a:t>
            </a:r>
            <a:r>
              <a:rPr lang="ru" sz="1100">
                <a:solidFill>
                  <a:schemeClr val="dk1"/>
                </a:solidFill>
              </a:rPr>
              <a:t> из-за несвоевременного информирования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1100">
                <a:solidFill>
                  <a:schemeClr val="dk1"/>
                </a:solidFill>
              </a:rPr>
              <a:t>           Падение капитализации - до </a:t>
            </a:r>
            <a:r>
              <a:rPr b="1" lang="ru" sz="1100">
                <a:solidFill>
                  <a:schemeClr val="dk1"/>
                </a:solidFill>
              </a:rPr>
              <a:t>1-2%</a:t>
            </a:r>
            <a:r>
              <a:rPr lang="ru" sz="1100">
                <a:solidFill>
                  <a:schemeClr val="dk1"/>
                </a:solidFill>
              </a:rPr>
              <a:t> за один крупный скандал (миллиарды рублей)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1100">
                <a:solidFill>
                  <a:schemeClr val="dk1"/>
                </a:solidFill>
              </a:rPr>
              <a:t>           Потеря контрактов и пересмотр условий сотрудничества со стороны партнеров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1100">
                <a:solidFill>
                  <a:schemeClr val="dk1"/>
                </a:solidFill>
              </a:rPr>
              <a:t>           Репутационный ущерб, который восстанавливается </a:t>
            </a:r>
            <a:r>
              <a:rPr b="1" lang="ru" sz="1100">
                <a:solidFill>
                  <a:schemeClr val="dk1"/>
                </a:solidFill>
              </a:rPr>
              <a:t>годами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Бизнес-проблема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772960" y="1621811"/>
            <a:ext cx="283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/>
          <p:nvPr/>
        </p:nvSpPr>
        <p:spPr>
          <a:xfrm>
            <a:off x="772960" y="1850880"/>
            <a:ext cx="283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772963" y="2055786"/>
            <a:ext cx="283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772963" y="2678409"/>
            <a:ext cx="283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772962" y="2883307"/>
            <a:ext cx="283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772938" y="3100762"/>
            <a:ext cx="283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772938" y="3307986"/>
            <a:ext cx="283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476275" y="1433400"/>
            <a:ext cx="8150100" cy="14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EcoPulse - это «пожарная сигнализация» для репутации: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           </a:t>
            </a:r>
            <a:r>
              <a:rPr b="1" lang="ru" sz="1100">
                <a:solidFill>
                  <a:schemeClr val="dk1"/>
                </a:solidFill>
              </a:rPr>
              <a:t>Мониторинг 24/7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           120+ VK-пабликов, RSS-ленты СМИ. Сбор данных - каждые 15 минут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           </a:t>
            </a:r>
            <a:r>
              <a:rPr b="1" lang="ru" sz="1100">
                <a:solidFill>
                  <a:schemeClr val="dk1"/>
                </a:solidFill>
              </a:rPr>
              <a:t>Умная фильтрация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           RuBERT выявляет реальные угрозы (экология, конфликты, обман) и присваивает уровень критичности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           </a:t>
            </a:r>
            <a:r>
              <a:rPr b="1" lang="ru" sz="1100">
                <a:solidFill>
                  <a:schemeClr val="dk1"/>
                </a:solidFill>
              </a:rPr>
              <a:t>Мгновенный алерт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           </a:t>
            </a:r>
            <a:r>
              <a:rPr lang="ru" sz="1100">
                <a:solidFill>
                  <a:schemeClr val="dk1"/>
                </a:solidFill>
              </a:rPr>
              <a:t>Telegram-бот доставляет уведомление о критическом инциденте за 15 минут - с ссылкой и краткой выжимкой.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           </a:t>
            </a:r>
            <a:r>
              <a:rPr b="1" lang="ru" sz="1100">
                <a:solidFill>
                  <a:schemeClr val="dk1"/>
                </a:solidFill>
              </a:rPr>
              <a:t>Экосистема для команды</a:t>
            </a:r>
            <a:br>
              <a:rPr b="1" lang="ru" sz="1100">
                <a:solidFill>
                  <a:schemeClr val="dk1"/>
                </a:solidFill>
              </a:rPr>
            </a:br>
            <a:r>
              <a:rPr b="1" lang="ru" sz="1100">
                <a:solidFill>
                  <a:schemeClr val="dk1"/>
                </a:solidFill>
              </a:rPr>
              <a:t>           </a:t>
            </a:r>
            <a:r>
              <a:rPr lang="ru" sz="1100">
                <a:solidFill>
                  <a:schemeClr val="dk1"/>
                </a:solidFill>
              </a:rPr>
              <a:t>Дашборд (Streamlit) для аналитики + кнопка 👍/👎 в боте для сбора фидбека и самообучения модели.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Решение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772960" y="1621811"/>
            <a:ext cx="283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772960" y="2479562"/>
            <a:ext cx="283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772963" y="2055786"/>
            <a:ext cx="283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778051" y="2888213"/>
            <a:ext cx="283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476252" y="1433404"/>
            <a:ext cx="809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Кому нужен EcoPulse: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ru" sz="1200">
                <a:solidFill>
                  <a:schemeClr val="dk1"/>
                </a:solidFill>
              </a:rPr>
              <a:t>PR-менеджеры</a:t>
            </a:r>
            <a:r>
              <a:rPr lang="ru" sz="1200">
                <a:solidFill>
                  <a:schemeClr val="dk1"/>
                </a:solidFill>
              </a:rPr>
              <a:t> промышленных компаний (нефтегаз, металлургия, химия) - получают оповещение за 15 минут, чтобы успеть подготовить официальный комментарий до появления новости в федеральных СМИ.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ru" sz="1200">
                <a:solidFill>
                  <a:schemeClr val="dk1"/>
                </a:solidFill>
              </a:rPr>
              <a:t>GR-специалисты</a:t>
            </a:r>
            <a:r>
              <a:rPr lang="ru" sz="1200">
                <a:solidFill>
                  <a:schemeClr val="dk1"/>
                </a:solidFill>
              </a:rPr>
              <a:t> - отслеживают локальные протестные настроения, чтобы предотвратить проверки надзорных органов и снизить регуляторные риски.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ru" sz="1200">
                <a:solidFill>
                  <a:schemeClr val="dk1"/>
                </a:solidFill>
              </a:rPr>
              <a:t>Аналитики по рискам</a:t>
            </a:r>
            <a:r>
              <a:rPr lang="ru" sz="1200">
                <a:solidFill>
                  <a:schemeClr val="dk1"/>
                </a:solidFill>
              </a:rPr>
              <a:t> - автоматизируют мониторинг десятков каналов, высвобождая время для стратегического анализа, а не ручного скроллинга.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</a:rPr>
              <a:t>Зачем:</a:t>
            </a:r>
            <a:r>
              <a:rPr lang="ru" sz="1200">
                <a:solidFill>
                  <a:schemeClr val="dk1"/>
                </a:solidFill>
              </a:rPr>
              <a:t> Получить конкурентное преимущество - </a:t>
            </a:r>
            <a:r>
              <a:rPr b="1" lang="ru" sz="1200">
                <a:solidFill>
                  <a:schemeClr val="dk1"/>
                </a:solidFill>
              </a:rPr>
              <a:t>управлять репутацией на опережение</a:t>
            </a:r>
            <a:r>
              <a:rPr lang="ru" sz="1200">
                <a:solidFill>
                  <a:schemeClr val="dk1"/>
                </a:solidFill>
              </a:rPr>
              <a:t>, пока инцидент еще локальный, а не тушить пожар, когда история уже вирусная. </a:t>
            </a:r>
            <a:endParaRPr b="1" sz="1200"/>
          </a:p>
        </p:txBody>
      </p:sp>
      <p:sp>
        <p:nvSpPr>
          <p:cNvPr id="99" name="Google Shape;99;p18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Рынок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Конкуренты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4103" y="1744632"/>
            <a:ext cx="2540850" cy="122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 title="images-Photoroo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225" y="2484010"/>
            <a:ext cx="2770025" cy="141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 title="logo-Photoroo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6750" y="3018929"/>
            <a:ext cx="2770028" cy="984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Ecopulse VS Конкуренты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Google Shape;118;p20"/>
          <p:cNvGraphicFramePr/>
          <p:nvPr/>
        </p:nvGraphicFramePr>
        <p:xfrm>
          <a:off x="476250" y="1435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{302B896F-B09F-4211-B172-D5858EAF1AA7}</a:tableStyleId>
              </a:tblPr>
              <a:tblGrid>
                <a:gridCol w="2099025"/>
                <a:gridCol w="3292900"/>
                <a:gridCol w="2696000"/>
              </a:tblGrid>
              <a:tr h="312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Критерий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Конкуренты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EcoPulse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Фокус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Общий мониторинг СМИ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Локальные нишевые каналы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(где рождаются слухи)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Приоритеты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Выдают поток всех упоминаний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Скоринг угрозы</a:t>
                      </a:r>
                      <a:r>
                        <a:rPr lang="ru" sz="1100"/>
                        <a:t> (критично/средне/фон)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Адаптация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Нет отраслевой специфики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Заточена под инциденты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(экология, производство)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Скорость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Часы (YouScan) - Минуты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≤ 15 минут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763302" y="1401279"/>
            <a:ext cx="809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Модель</a:t>
            </a:r>
            <a:endParaRPr b="1"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B2B SaaS (Ежемесячная подписка)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Монетизация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476250" y="1395650"/>
            <a:ext cx="113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/>
          <p:nvPr/>
        </p:nvSpPr>
        <p:spPr>
          <a:xfrm>
            <a:off x="763302" y="2048486"/>
            <a:ext cx="809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Ценностное предложение</a:t>
            </a:r>
            <a:endParaRPr b="1"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Стоимость подписки в разы ниже затрат на кризисное управление одним инцидентом. Экономия - прямой аргумент для принятия решения</a:t>
            </a:r>
            <a:endParaRPr sz="1200"/>
          </a:p>
        </p:txBody>
      </p:sp>
      <p:sp>
        <p:nvSpPr>
          <p:cNvPr id="129" name="Google Shape;129;p21"/>
          <p:cNvSpPr/>
          <p:nvPr/>
        </p:nvSpPr>
        <p:spPr>
          <a:xfrm>
            <a:off x="476250" y="2048483"/>
            <a:ext cx="113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763302" y="2903973"/>
            <a:ext cx="809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Формат работы и ценовая стратегия</a:t>
            </a:r>
            <a:endParaRPr b="1"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Пилотный доступ на 1 месяц для подтверждения ценности с последующим переходом на годовой контракт. Ценовая стратегия - ниже рыночных лидеров (Brand Analytics / YouScan), но выше стоимости ручного мониторинга, так как мы </a:t>
            </a:r>
            <a:r>
              <a:rPr lang="ru" sz="1200"/>
              <a:t>даем</a:t>
            </a:r>
            <a:r>
              <a:rPr lang="ru" sz="1200"/>
              <a:t> автоматизацию и точность, которых нет у конкурентов. </a:t>
            </a:r>
            <a:endParaRPr sz="1200"/>
          </a:p>
        </p:txBody>
      </p:sp>
      <p:sp>
        <p:nvSpPr>
          <p:cNvPr id="131" name="Google Shape;131;p21"/>
          <p:cNvSpPr/>
          <p:nvPr/>
        </p:nvSpPr>
        <p:spPr>
          <a:xfrm>
            <a:off x="476250" y="2903970"/>
            <a:ext cx="113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/>
          <p:nvPr/>
        </p:nvSpPr>
        <p:spPr>
          <a:xfrm>
            <a:off x="476250" y="2383023"/>
            <a:ext cx="66891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01.</a:t>
            </a:r>
            <a:endParaRPr i="0" sz="4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Задачи EcoPulse</a:t>
            </a:r>
            <a:endParaRPr i="0" sz="3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Задачи Ecopulse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437025" y="2047050"/>
            <a:ext cx="2605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Сократить Time-to-Alert с 2-3 суток до 15 минут при Recall ≥ 0.80 по классу critical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3282975" y="2046850"/>
            <a:ext cx="2799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Бинарная классификация коротких русскоязычных текстов:</a:t>
            </a:r>
            <a:endParaRPr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/>
              <a:t>critical</a:t>
            </a:r>
            <a:r>
              <a:rPr lang="ru" sz="1200"/>
              <a:t> - угроза репутации (экология, здоровье, трудовые конфликты, обман)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/>
              <a:t>not_critical </a:t>
            </a:r>
            <a:r>
              <a:rPr lang="ru" sz="1200"/>
              <a:t>- обычное упоминание</a:t>
            </a:r>
            <a:endParaRPr sz="1200"/>
          </a:p>
        </p:txBody>
      </p:sp>
      <p:sp>
        <p:nvSpPr>
          <p:cNvPr id="147" name="Google Shape;147;p23"/>
          <p:cNvSpPr/>
          <p:nvPr/>
        </p:nvSpPr>
        <p:spPr>
          <a:xfrm>
            <a:off x="476198" y="1467838"/>
            <a:ext cx="49611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Inter"/>
                <a:ea typeface="Inter"/>
                <a:cs typeface="Inter"/>
                <a:sym typeface="Inter"/>
              </a:rPr>
              <a:t>Список задач проекта</a:t>
            </a:r>
            <a:r>
              <a:rPr b="1" i="0" lang="ru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i="0" sz="1313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437033" y="1834449"/>
            <a:ext cx="249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01 </a:t>
            </a:r>
            <a:r>
              <a:rPr lang="ru" sz="1200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- Продуктовая</a:t>
            </a:r>
            <a:endParaRPr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3284611" y="1834970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02 - ML</a:t>
            </a:r>
            <a:endParaRPr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3279875" y="3783325"/>
            <a:ext cx="260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NER (компании, геолокации), Stance Detection (жалоба vs нейтральное), генерация прогноза реакции через GigaChat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381350" y="3325775"/>
            <a:ext cx="260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Recall(critical) ≥ 0.85,</a:t>
            </a:r>
            <a:endParaRPr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Precision ≥  0.75,</a:t>
            </a:r>
            <a:endParaRPr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F1 ≥  0.80 на отложенной тестовой выборке (посты позже обучающих по дате)</a:t>
            </a:r>
            <a:endParaRPr sz="1200"/>
          </a:p>
        </p:txBody>
      </p:sp>
      <p:sp>
        <p:nvSpPr>
          <p:cNvPr id="152" name="Google Shape;152;p23"/>
          <p:cNvSpPr/>
          <p:nvPr/>
        </p:nvSpPr>
        <p:spPr>
          <a:xfrm>
            <a:off x="3279883" y="3570722"/>
            <a:ext cx="249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ru" sz="1200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 - Дополнительн</a:t>
            </a:r>
            <a:r>
              <a:rPr lang="ru" sz="1200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ые</a:t>
            </a:r>
            <a:endParaRPr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382986" y="3113892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ru" sz="1200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 - SMART-метрика</a:t>
            </a:r>
            <a:endParaRPr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8275" y="1467850"/>
            <a:ext cx="2965600" cy="317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>
            <a:off x="476250" y="2383023"/>
            <a:ext cx="66891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1" lang="ru" sz="4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1" i="0" lang="ru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i="0" sz="4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Используемые данные</a:t>
            </a:r>
            <a:endParaRPr i="0" sz="3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/>
          <p:nvPr/>
        </p:nvSpPr>
        <p:spPr>
          <a:xfrm>
            <a:off x="476250" y="829489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Данные в проекте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76258" y="1249422"/>
            <a:ext cx="38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Inter"/>
                <a:ea typeface="Inter"/>
                <a:cs typeface="Inter"/>
                <a:sym typeface="Inter"/>
              </a:rPr>
              <a:t>Источники для обучения после чистки: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493200" y="3977931"/>
            <a:ext cx="3926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/>
              <a:t>Стратегия разметки:</a:t>
            </a:r>
            <a:endParaRPr b="1" sz="10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рейтинг ≤ 2 / класс THREAT → critical;</a:t>
            </a:r>
            <a:endParaRPr sz="10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пограничные случаи - LLM-предразметка (Gigachat, confidence ≥ 0.85)</a:t>
            </a:r>
            <a:endParaRPr sz="1000"/>
          </a:p>
        </p:txBody>
      </p:sp>
      <p:sp>
        <p:nvSpPr>
          <p:cNvPr id="171" name="Google Shape;171;p25"/>
          <p:cNvSpPr/>
          <p:nvPr/>
        </p:nvSpPr>
        <p:spPr>
          <a:xfrm>
            <a:off x="5009397" y="3978930"/>
            <a:ext cx="3926100" cy="10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/>
              <a:t>Характеристики:</a:t>
            </a:r>
            <a:endParaRPr b="1" sz="1000"/>
          </a:p>
          <a:p>
            <a:pPr indent="-2921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ru" sz="1000"/>
              <a:t>Дисбаланс: ~83% not_critical / ~17% critical → решается class_weight и PR‑AUC</a:t>
            </a:r>
            <a:endParaRPr sz="1000"/>
          </a:p>
          <a:p>
            <a:pPr indent="-2921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ru" sz="1000"/>
              <a:t>Валидация: TimeSeriesSplit (обучение на прошлом, предсказание будущего) </a:t>
            </a:r>
            <a:endParaRPr sz="1000"/>
          </a:p>
        </p:txBody>
      </p:sp>
      <p:pic>
        <p:nvPicPr>
          <p:cNvPr id="172" name="Google Shape;17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25"/>
          <p:cNvGraphicFramePr/>
          <p:nvPr/>
        </p:nvGraphicFramePr>
        <p:xfrm>
          <a:off x="476250" y="1435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{302B896F-B09F-4211-B172-D5858EAF1AA7}</a:tableStyleId>
              </a:tblPr>
              <a:tblGrid>
                <a:gridCol w="1617500"/>
                <a:gridCol w="2537500"/>
                <a:gridCol w="2077525"/>
                <a:gridCol w="2226650"/>
              </a:tblGrid>
              <a:tr h="31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Датасет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Контекст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Роль в проекте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Объем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Romjiik/Russian_bank_reviews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chemeClr val="dk1"/>
                          </a:solidFill>
                        </a:rPr>
                        <a:t>Сборник отзывов клиентов о банках с сайта banki.ru, содержащий 12 399 записей. Включает текст отзыва, рейтинг (1–5), дату и дополнительные поля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800">
                          <a:solidFill>
                            <a:schemeClr val="dk1"/>
                          </a:solidFill>
                        </a:rPr>
                        <a:t>rating ≤ 2 → critical, иначе 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12391 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AlexSham/Toxic_Russian_Comments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chemeClr val="dk1"/>
                          </a:solidFill>
                        </a:rPr>
                        <a:t>Датасет размеченных комментариев из социальной сети ok.ru, использовавшийся в соревновании по автоматическому определению токсичности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label == THREAT → critical, иначе 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193730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d0rj/geo-reviews-dataset-2023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Крупнейший русскоязычный набор отзывов об организациях, собранных с сервиса Яндекс Карты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800">
                          <a:solidFill>
                            <a:schemeClr val="dk1"/>
                          </a:solidFill>
                        </a:rPr>
                        <a:t>rating ≤ 2 → critical, иначе 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499236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84850">
                <a:tc gridSpan="3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ИТОГО:</a:t>
                      </a:r>
                      <a:endParaRPr sz="800"/>
                    </a:p>
                  </a:txBody>
                  <a:tcPr marT="91425" marB="91425" marR="91425" marL="91425"/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705357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476250" y="2383023"/>
            <a:ext cx="66891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1" lang="ru" sz="4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i="0" lang="ru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i="0" sz="4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Методы</a:t>
            </a:r>
            <a:endParaRPr i="0" sz="3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/>
              <a:t>Методы в </a:t>
            </a:r>
            <a:r>
              <a:rPr b="1" lang="ru" sz="2600"/>
              <a:t>проекте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476200" y="2041550"/>
            <a:ext cx="258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удаление HTML, ссылок, нормализация, дедупликация, гибридный сплит: стратификация и TimeSeriesSplit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3322142" y="2041345"/>
            <a:ext cx="249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synonym replacement (nlpaug) для critical до 30%, синтетические ESG-посты через GigaChat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476193" y="1407248"/>
            <a:ext cx="6912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/>
              <a:t>В </a:t>
            </a:r>
            <a:r>
              <a:rPr b="1" lang="ru" sz="1300"/>
              <a:t>проекте</a:t>
            </a:r>
            <a:r>
              <a:rPr b="1" lang="ru" sz="1300"/>
              <a:t> были использованы следующие методы:</a:t>
            </a:r>
            <a:endParaRPr b="0" i="0" sz="13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476208" y="1828933"/>
            <a:ext cx="249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01 - Предобработка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7"/>
          <p:cNvSpPr/>
          <p:nvPr/>
        </p:nvSpPr>
        <p:spPr>
          <a:xfrm>
            <a:off x="3323786" y="1829454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843FF"/>
                </a:solidFill>
              </a:rPr>
              <a:t> </a:t>
            </a: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02 - Аугментация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7"/>
          <p:cNvSpPr/>
          <p:nvPr/>
        </p:nvSpPr>
        <p:spPr>
          <a:xfrm>
            <a:off x="476200" y="3180436"/>
            <a:ext cx="258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экспорт в ONNX, квантизация → </a:t>
            </a:r>
            <a:endParaRPr sz="11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≤ 200 мс на пост на CPU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7"/>
          <p:cNvSpPr/>
          <p:nvPr/>
        </p:nvSpPr>
        <p:spPr>
          <a:xfrm>
            <a:off x="3322142" y="3180253"/>
            <a:ext cx="2492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Final score = 0.7×model_score + 0.3×source_weight; trend boost при множественных упоминаниях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7"/>
          <p:cNvSpPr/>
          <p:nvPr/>
        </p:nvSpPr>
        <p:spPr>
          <a:xfrm>
            <a:off x="476208" y="2967842"/>
            <a:ext cx="249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 - Инференс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3323786" y="2968362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 - Скоринг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6042761" y="2040822"/>
            <a:ext cx="29733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-"/>
            </a:pPr>
            <a:r>
              <a:rPr lang="ru" sz="1100"/>
              <a:t>Baseline: TF-IDF + LogisticRegression (F1 ~0.68-0.72)</a:t>
            </a:r>
            <a:endParaRPr sz="1100"/>
          </a:p>
          <a:p>
            <a:pPr indent="-29845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ru" sz="1100"/>
              <a:t>Основная: fine-tuning cointegrated/tubert-tiny2</a:t>
            </a:r>
            <a:endParaRPr sz="1100"/>
          </a:p>
          <a:p>
            <a:pPr indent="-29845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ru" sz="1100"/>
              <a:t>Взвешенный Loss (CrossEntropyLoss) + Temperature Scaling для калибровки</a:t>
            </a:r>
            <a:endParaRPr sz="1100"/>
          </a:p>
        </p:txBody>
      </p:sp>
      <p:sp>
        <p:nvSpPr>
          <p:cNvPr id="197" name="Google Shape;197;p27"/>
          <p:cNvSpPr/>
          <p:nvPr/>
        </p:nvSpPr>
        <p:spPr>
          <a:xfrm>
            <a:off x="6044408" y="1828936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ru" sz="1200">
                <a:solidFill>
                  <a:srgbClr val="8843FF"/>
                </a:solidFill>
              </a:rPr>
              <a:t>Архитектура</a:t>
            </a: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 модели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/>
          <p:nvPr/>
        </p:nvSpPr>
        <p:spPr>
          <a:xfrm>
            <a:off x="476246" y="4147324"/>
            <a:ext cx="249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посты с score 0.40-0.60 - в очередь ручной разметки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3323005" y="4146606"/>
            <a:ext cx="2492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NER - Natasha (компании, локации, тип инцидента)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476246" y="3934720"/>
            <a:ext cx="249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" sz="1200">
                <a:solidFill>
                  <a:srgbClr val="8843FF"/>
                </a:solidFill>
              </a:rPr>
              <a:t>6</a:t>
            </a: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ru" sz="1200">
                <a:solidFill>
                  <a:srgbClr val="8843FF"/>
                </a:solidFill>
              </a:rPr>
              <a:t>Активное обучение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3324649" y="3934715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" sz="1200">
                <a:solidFill>
                  <a:srgbClr val="8843FF"/>
                </a:solidFill>
              </a:rPr>
              <a:t>7</a:t>
            </a: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ru" sz="1200">
                <a:solidFill>
                  <a:srgbClr val="8843FF"/>
                </a:solidFill>
              </a:rPr>
              <a:t> 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6167505" y="4146606"/>
            <a:ext cx="2492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PSI по длине текстов и скорам, HTML‑отчет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6169149" y="3934715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" sz="1200">
                <a:solidFill>
                  <a:srgbClr val="8843FF"/>
                </a:solidFill>
              </a:rPr>
              <a:t>8</a:t>
            </a: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ru" sz="1200">
                <a:solidFill>
                  <a:srgbClr val="8843FF"/>
                </a:solidFill>
              </a:rPr>
              <a:t> Мониторинг дрейфа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/>
          <p:nvPr/>
        </p:nvSpPr>
        <p:spPr>
          <a:xfrm>
            <a:off x="476250" y="2383025"/>
            <a:ext cx="7373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1" lang="ru" sz="4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1" i="0" lang="ru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i="0" sz="4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Технологическое решение</a:t>
            </a:r>
            <a:endParaRPr i="0" sz="3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1" name="Google Shape;21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/>
          <p:nvPr/>
        </p:nvSpPr>
        <p:spPr>
          <a:xfrm>
            <a:off x="476275" y="1573474"/>
            <a:ext cx="3837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Парсер</a:t>
            </a:r>
            <a:endParaRPr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RSS (feedparser) + VK API + Web scraping (BeautifulSoup) - цикл каждые 15 минут</a:t>
            </a:r>
            <a:endParaRPr sz="1200"/>
          </a:p>
        </p:txBody>
      </p:sp>
      <p:sp>
        <p:nvSpPr>
          <p:cNvPr id="218" name="Google Shape;218;p29"/>
          <p:cNvSpPr/>
          <p:nvPr/>
        </p:nvSpPr>
        <p:spPr>
          <a:xfrm>
            <a:off x="4793075" y="1573475"/>
            <a:ext cx="389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Классификатор</a:t>
            </a:r>
            <a:br>
              <a:rPr b="1" lang="ru" sz="1200"/>
            </a:br>
            <a:r>
              <a:rPr lang="ru" sz="1200"/>
              <a:t>ONNX Runtime на CPU, 200 мс/пост</a:t>
            </a:r>
            <a:endParaRPr sz="1200"/>
          </a:p>
        </p:txBody>
      </p:sp>
      <p:sp>
        <p:nvSpPr>
          <p:cNvPr id="219" name="Google Shape;219;p29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Продуктовая архитектура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333375" y="1573486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4650165" y="1573478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9"/>
          <p:cNvSpPr/>
          <p:nvPr/>
        </p:nvSpPr>
        <p:spPr>
          <a:xfrm>
            <a:off x="476275" y="2445699"/>
            <a:ext cx="3837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Уведомления</a:t>
            </a:r>
            <a:endParaRPr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Telegram‑бот с кнопками 👍/👎 для сбора живого фидбека</a:t>
            </a:r>
            <a:endParaRPr sz="1200"/>
          </a:p>
        </p:txBody>
      </p:sp>
      <p:sp>
        <p:nvSpPr>
          <p:cNvPr id="224" name="Google Shape;224;p29"/>
          <p:cNvSpPr/>
          <p:nvPr/>
        </p:nvSpPr>
        <p:spPr>
          <a:xfrm>
            <a:off x="4793075" y="2445700"/>
            <a:ext cx="38940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Дашборд</a:t>
            </a:r>
            <a:br>
              <a:rPr b="1" lang="ru" sz="1200"/>
            </a:br>
            <a:r>
              <a:rPr lang="ru" sz="1200"/>
              <a:t>Streamlit с 7 графиками аналитики и вкладкой Active Learning</a:t>
            </a:r>
            <a:endParaRPr sz="1200"/>
          </a:p>
        </p:txBody>
      </p:sp>
      <p:sp>
        <p:nvSpPr>
          <p:cNvPr id="225" name="Google Shape;225;p29"/>
          <p:cNvSpPr/>
          <p:nvPr/>
        </p:nvSpPr>
        <p:spPr>
          <a:xfrm>
            <a:off x="333375" y="2445707"/>
            <a:ext cx="564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4650165" y="2445702"/>
            <a:ext cx="564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476275" y="3374433"/>
            <a:ext cx="3837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GigaChat</a:t>
            </a:r>
            <a:endParaRPr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генерация прогноза реакции пользователей и рекомендаций PR‑команде</a:t>
            </a:r>
            <a:endParaRPr sz="1200"/>
          </a:p>
        </p:txBody>
      </p:sp>
      <p:sp>
        <p:nvSpPr>
          <p:cNvPr id="228" name="Google Shape;228;p29"/>
          <p:cNvSpPr/>
          <p:nvPr/>
        </p:nvSpPr>
        <p:spPr>
          <a:xfrm>
            <a:off x="4793075" y="3374434"/>
            <a:ext cx="38940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Авто-ретрейн</a:t>
            </a:r>
            <a:br>
              <a:rPr b="1" lang="ru" sz="1200"/>
            </a:br>
            <a:r>
              <a:rPr lang="ru" sz="1200"/>
              <a:t>при накоплении 200 фидбеков - дообучение модели</a:t>
            </a:r>
            <a:endParaRPr sz="1200"/>
          </a:p>
        </p:txBody>
      </p:sp>
      <p:sp>
        <p:nvSpPr>
          <p:cNvPr id="229" name="Google Shape;229;p29"/>
          <p:cNvSpPr/>
          <p:nvPr/>
        </p:nvSpPr>
        <p:spPr>
          <a:xfrm>
            <a:off x="333375" y="3374440"/>
            <a:ext cx="564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4650165" y="3374435"/>
            <a:ext cx="564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Метрики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7" name="Google Shape;23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/>
          <p:nvPr/>
        </p:nvSpPr>
        <p:spPr>
          <a:xfrm>
            <a:off x="616700" y="1573475"/>
            <a:ext cx="3854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ПРОДУКТОВЫЕ МЕТРИКИ</a:t>
            </a:r>
            <a:endParaRPr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 u="sng"/>
              <a:t>Time-to-Alert</a:t>
            </a:r>
            <a:r>
              <a:rPr b="1" lang="ru" sz="1200"/>
              <a:t>:</a:t>
            </a:r>
            <a:r>
              <a:rPr lang="ru" sz="1200"/>
              <a:t> </a:t>
            </a:r>
            <a:r>
              <a:rPr lang="ru" sz="1200"/>
              <a:t>скорость</a:t>
            </a:r>
            <a:r>
              <a:rPr lang="ru" sz="1200"/>
              <a:t> реакции - главная ценность для бизнеса</a:t>
            </a:r>
            <a:endParaRPr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Recall (critical): </a:t>
            </a:r>
            <a:r>
              <a:rPr lang="ru" sz="1200"/>
              <a:t>не пропускаем реальные угрозы</a:t>
            </a:r>
            <a:endParaRPr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Precision (critical): </a:t>
            </a:r>
            <a:r>
              <a:rPr lang="ru" sz="1200"/>
              <a:t>минимум ложных тревог, больше доверие к боту </a:t>
            </a:r>
            <a:endParaRPr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F1 (critical):</a:t>
            </a:r>
            <a:r>
              <a:rPr lang="ru" sz="1200"/>
              <a:t> и</a:t>
            </a:r>
            <a:r>
              <a:rPr lang="ru" sz="1200"/>
              <a:t>тоговое качество классификации</a:t>
            </a:r>
            <a:endParaRPr sz="1200"/>
          </a:p>
        </p:txBody>
      </p:sp>
      <p:sp>
        <p:nvSpPr>
          <p:cNvPr id="239" name="Google Shape;239;p30"/>
          <p:cNvSpPr/>
          <p:nvPr/>
        </p:nvSpPr>
        <p:spPr>
          <a:xfrm>
            <a:off x="4859675" y="1573476"/>
            <a:ext cx="3827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ТЕХНИЧЕСКИЕ МЕТРИКИ</a:t>
            </a:r>
            <a:endParaRPr b="1"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Latency инференса:</a:t>
            </a:r>
            <a:r>
              <a:rPr lang="ru" sz="1200"/>
              <a:t> быстрота обработки на CPU</a:t>
            </a:r>
            <a:endParaRPr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Uptime бота:</a:t>
            </a:r>
            <a:r>
              <a:rPr lang="ru" sz="1200"/>
              <a:t> </a:t>
            </a:r>
            <a:r>
              <a:rPr lang="ru" sz="1200"/>
              <a:t>надежность</a:t>
            </a:r>
            <a:r>
              <a:rPr lang="ru" sz="1200"/>
              <a:t> сервиса</a:t>
            </a:r>
            <a:endParaRPr sz="12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 u="sng"/>
              <a:t>PR‑AUC</a:t>
            </a:r>
            <a:r>
              <a:rPr b="1" lang="ru" sz="1200"/>
              <a:t>:</a:t>
            </a:r>
            <a:r>
              <a:rPr lang="ru" sz="1200"/>
              <a:t> Качество ранжирования при дисбалансе классов</a:t>
            </a:r>
            <a:endParaRPr sz="1200"/>
          </a:p>
        </p:txBody>
      </p:sp>
      <p:sp>
        <p:nvSpPr>
          <p:cNvPr id="240" name="Google Shape;240;p30"/>
          <p:cNvSpPr/>
          <p:nvPr/>
        </p:nvSpPr>
        <p:spPr>
          <a:xfrm>
            <a:off x="522250" y="1809054"/>
            <a:ext cx="555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522247" y="2252799"/>
            <a:ext cx="555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ru" sz="1200">
                <a:solidFill>
                  <a:srgbClr val="8843FF"/>
                </a:solidFill>
              </a:rPr>
              <a:t>•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8843FF"/>
                </a:solidFill>
              </a:rPr>
              <a:t>•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8843FF"/>
              </a:solidFill>
            </a:endParaRPr>
          </a:p>
        </p:txBody>
      </p:sp>
      <p:sp>
        <p:nvSpPr>
          <p:cNvPr id="242" name="Google Shape;242;p30"/>
          <p:cNvSpPr/>
          <p:nvPr/>
        </p:nvSpPr>
        <p:spPr>
          <a:xfrm>
            <a:off x="4727875" y="1809054"/>
            <a:ext cx="555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4727872" y="2252799"/>
            <a:ext cx="555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8843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Пайплайн EcoPulse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0" name="Google Shape;2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1"/>
          <p:cNvPicPr preferRelativeResize="0"/>
          <p:nvPr/>
        </p:nvPicPr>
        <p:blipFill rotWithShape="1">
          <a:blip r:embed="rId4">
            <a:alphaModFix/>
          </a:blip>
          <a:srcRect b="10813" l="0" r="0" t="9206"/>
          <a:stretch/>
        </p:blipFill>
        <p:spPr>
          <a:xfrm>
            <a:off x="476250" y="1334400"/>
            <a:ext cx="8134924" cy="354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/>
          <p:nvPr/>
        </p:nvSpPr>
        <p:spPr>
          <a:xfrm>
            <a:off x="476250" y="86526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Технологический стек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8" name="Google Shape;25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325" y="1231875"/>
            <a:ext cx="7155374" cy="379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/>
          <p:nvPr/>
        </p:nvSpPr>
        <p:spPr>
          <a:xfrm>
            <a:off x="476250" y="2383023"/>
            <a:ext cx="66891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1" lang="ru" sz="4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i="0" lang="ru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i="0" sz="4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Результаты</a:t>
            </a:r>
            <a:endParaRPr i="0" sz="3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6" name="Google Shape;26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6d1feeb5-c3db-48ad-b664-d83b08129826?pitch-bytes=379724&amp;pitch-content-type=image%2Fpng" id="272" name="Google Shape;27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5758" y="1048219"/>
            <a:ext cx="6412486" cy="368456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4"/>
          <p:cNvSpPr/>
          <p:nvPr/>
        </p:nvSpPr>
        <p:spPr>
          <a:xfrm>
            <a:off x="476200" y="506719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Демонстрация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34"/>
          <p:cNvSpPr txBox="1"/>
          <p:nvPr/>
        </p:nvSpPr>
        <p:spPr>
          <a:xfrm>
            <a:off x="2263025" y="1931250"/>
            <a:ext cx="4635900" cy="14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2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5" name="Google Shape;275;p34" title="YouCut_20260728_193023099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6025" y="1266050"/>
            <a:ext cx="4868501" cy="30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/>
          <p:nvPr/>
        </p:nvSpPr>
        <p:spPr>
          <a:xfrm>
            <a:off x="476250" y="829335"/>
            <a:ext cx="68307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/>
              <a:t>Метрики модели на тестовой выборке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3" name="Google Shape;283;p35"/>
          <p:cNvGraphicFramePr/>
          <p:nvPr/>
        </p:nvGraphicFramePr>
        <p:xfrm>
          <a:off x="476262" y="18162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{302B896F-B09F-4211-B172-D5858EAF1AA7}</a:tableStyleId>
              </a:tblPr>
              <a:tblGrid>
                <a:gridCol w="2818075"/>
                <a:gridCol w="2818125"/>
                <a:gridCol w="28181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/>
                        <a:t>Метрика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/>
                        <a:t>Значение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/>
                        <a:t>Интерпретация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/>
                        <a:t>Precision (critical)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0.798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80% уведомлений - реальные угрозы (мало ложных тревог)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/>
                        <a:t>Recall (critical)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0.833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Находим 83% всех инцидентов (выше цели 0.80)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/>
                        <a:t>F1 (critical)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0.815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Сбалансированное качество (выше цели 0.80)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/>
                        <a:t>PR-AUC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0.859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Отличное ранжирование, несмотря на дисбаланс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900"/>
                        <a:t>Accuracy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0.979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Высокая общая точность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4" name="Google Shape;284;p35"/>
          <p:cNvSpPr txBox="1"/>
          <p:nvPr/>
        </p:nvSpPr>
        <p:spPr>
          <a:xfrm>
            <a:off x="407975" y="1236760"/>
            <a:ext cx="845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Тестирование на 37 726 постах (5.6% - критические угрозы). </a:t>
            </a:r>
            <a:r>
              <a:rPr lang="ru" sz="1100">
                <a:solidFill>
                  <a:schemeClr val="dk1"/>
                </a:solidFill>
              </a:rPr>
              <a:t>Модель превысила SMART-цели: </a:t>
            </a:r>
            <a:r>
              <a:rPr b="1" lang="ru" sz="1100">
                <a:solidFill>
                  <a:schemeClr val="dk1"/>
                </a:solidFill>
              </a:rPr>
              <a:t>F1 = 0.815</a:t>
            </a:r>
            <a:r>
              <a:rPr lang="ru" sz="1100">
                <a:solidFill>
                  <a:schemeClr val="dk1"/>
                </a:solidFill>
              </a:rPr>
              <a:t>, </a:t>
            </a:r>
            <a:r>
              <a:rPr b="1" lang="ru" sz="1100">
                <a:solidFill>
                  <a:schemeClr val="dk1"/>
                </a:solidFill>
              </a:rPr>
              <a:t>Recall = 0.833</a:t>
            </a:r>
            <a:r>
              <a:rPr lang="ru" sz="1100">
                <a:solidFill>
                  <a:schemeClr val="dk1"/>
                </a:solidFill>
              </a:rPr>
              <a:t>, </a:t>
            </a:r>
            <a:r>
              <a:rPr b="1" lang="ru" sz="1100">
                <a:solidFill>
                  <a:schemeClr val="dk1"/>
                </a:solidFill>
              </a:rPr>
              <a:t>Precision = 0.798</a:t>
            </a:r>
            <a:r>
              <a:rPr lang="ru" sz="1100">
                <a:solidFill>
                  <a:schemeClr val="dk1"/>
                </a:solidFill>
              </a:rPr>
              <a:t>. </a:t>
            </a:r>
            <a:r>
              <a:rPr b="1" lang="ru" sz="1100">
                <a:solidFill>
                  <a:schemeClr val="dk1"/>
                </a:solidFill>
              </a:rPr>
              <a:t>PR-AUC = 0.859</a:t>
            </a:r>
            <a:r>
              <a:rPr lang="ru" sz="1100">
                <a:solidFill>
                  <a:schemeClr val="dk1"/>
                </a:solidFill>
              </a:rPr>
              <a:t> - отличное ранжирование при сильном дисбалансе классов.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Продуктовые достижения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Google Shape;291;p36"/>
          <p:cNvSpPr/>
          <p:nvPr/>
        </p:nvSpPr>
        <p:spPr>
          <a:xfrm>
            <a:off x="476200" y="1467901"/>
            <a:ext cx="4961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Inter"/>
                <a:ea typeface="Inter"/>
                <a:cs typeface="Inter"/>
                <a:sym typeface="Inter"/>
              </a:rPr>
              <a:t>Были достигнуты следующие пункты</a:t>
            </a:r>
            <a:r>
              <a:rPr b="1" i="0" lang="ru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1" i="0" sz="13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SzPts val="1300"/>
              <a:buFont typeface="Inter"/>
              <a:buChar char="-"/>
            </a:pPr>
            <a:r>
              <a:rPr lang="ru" sz="1300">
                <a:latin typeface="Inter"/>
                <a:ea typeface="Inter"/>
                <a:cs typeface="Inter"/>
                <a:sym typeface="Inter"/>
              </a:rPr>
              <a:t>Time‑to‑Alert ≤ 15 минут (вместо 2-3 суток)</a:t>
            </a:r>
            <a:endParaRPr sz="1300"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SzPts val="1300"/>
              <a:buFont typeface="Inter"/>
              <a:buChar char="-"/>
            </a:pPr>
            <a:r>
              <a:rPr lang="ru" sz="1300">
                <a:latin typeface="Inter"/>
                <a:ea typeface="Inter"/>
                <a:cs typeface="Inter"/>
                <a:sym typeface="Inter"/>
              </a:rPr>
              <a:t>Охват: 120+ VK‑групп, 15+ RSS, 6 новостных сайтов</a:t>
            </a:r>
            <a:endParaRPr sz="1300"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SzPts val="1300"/>
              <a:buFont typeface="Inter"/>
              <a:buChar char="-"/>
            </a:pPr>
            <a:r>
              <a:rPr lang="ru" sz="1300">
                <a:latin typeface="Inter"/>
                <a:ea typeface="Inter"/>
                <a:cs typeface="Inter"/>
                <a:sym typeface="Inter"/>
              </a:rPr>
              <a:t>Фильтрация шума стоп‑словами</a:t>
            </a:r>
            <a:endParaRPr sz="1300"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SzPts val="1300"/>
              <a:buFont typeface="Inter"/>
              <a:buChar char="-"/>
            </a:pPr>
            <a:r>
              <a:rPr lang="ru" sz="1300">
                <a:latin typeface="Inter"/>
                <a:ea typeface="Inter"/>
                <a:cs typeface="Inter"/>
                <a:sym typeface="Inter"/>
              </a:rPr>
              <a:t>GigaChat генерирует прогноз реакции для каждого критического поста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Google Shape;292;p36"/>
          <p:cNvSpPr/>
          <p:nvPr/>
        </p:nvSpPr>
        <p:spPr>
          <a:xfrm>
            <a:off x="6178411" y="0"/>
            <a:ext cx="2965500" cy="5143500"/>
          </a:xfrm>
          <a:prstGeom prst="roundRect">
            <a:avLst>
              <a:gd fmla="val -30834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07200" lIns="164750" spcFirstLastPara="1" rIns="164750" wrap="square" tIns="6072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3" name="Google Shape;29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Бизнес-ценность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0" name="Google Shape;30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6350" y="1019115"/>
            <a:ext cx="3909850" cy="3756224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7"/>
          <p:cNvSpPr/>
          <p:nvPr/>
        </p:nvSpPr>
        <p:spPr>
          <a:xfrm>
            <a:off x="476200" y="1467900"/>
            <a:ext cx="4280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Inter"/>
                <a:ea typeface="Inter"/>
                <a:cs typeface="Inter"/>
                <a:sym typeface="Inter"/>
              </a:rPr>
              <a:t>Упреждающая реакция vs Кризисное управление</a:t>
            </a:r>
            <a:endParaRPr b="1" sz="13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Inter"/>
                <a:ea typeface="Inter"/>
                <a:cs typeface="Inter"/>
                <a:sym typeface="Inter"/>
              </a:rPr>
              <a:t>EcoPulse смещает точку обнаружения инцидента с 2-3 дней до нескольких секунд - давая PR-команде время на управление нарративом до того, как история станет вирусной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3" name="Google Shape;303;p37"/>
          <p:cNvSpPr/>
          <p:nvPr/>
        </p:nvSpPr>
        <p:spPr>
          <a:xfrm>
            <a:off x="476250" y="2855800"/>
            <a:ext cx="4280100" cy="1178400"/>
          </a:xfrm>
          <a:prstGeom prst="roundRect">
            <a:avLst>
              <a:gd fmla="val -265404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7"/>
          <p:cNvSpPr/>
          <p:nvPr/>
        </p:nvSpPr>
        <p:spPr>
          <a:xfrm>
            <a:off x="587704" y="3009984"/>
            <a:ext cx="40344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Ключевой</a:t>
            </a:r>
            <a:r>
              <a:rPr b="1" lang="ru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ru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принцип: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Стоимость упреждающей реакции несопоставимо ниже стоимости кризисного управления</a:t>
            </a:r>
            <a:endParaRPr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Риски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1" name="Google Shape;31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2" name="Google Shape;312;p38"/>
          <p:cNvGraphicFramePr/>
          <p:nvPr/>
        </p:nvGraphicFramePr>
        <p:xfrm>
          <a:off x="476262" y="16526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{302B896F-B09F-4211-B172-D5858EAF1AA7}</a:tableStyleId>
              </a:tblPr>
              <a:tblGrid>
                <a:gridCol w="2818075"/>
                <a:gridCol w="2818125"/>
                <a:gridCol w="28181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Риск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Вероятность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Митигация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Модель не распознает реальные инциденты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Высокая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LLM‑предразметка реальных постов (GigaChat)</a:t>
                      </a:r>
                      <a:endParaRPr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Добавление 500-1000 вручную размеченных примеров</a:t>
                      </a:r>
                      <a:endParaRPr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Аугментация и few‑shot обучение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Дисбаланс классов</a:t>
                      </a:r>
                      <a:r>
                        <a:rPr lang="ru" sz="800"/>
                        <a:t> (критических постов всего 5-6%)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Высокая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Взвешенный loss</a:t>
                      </a:r>
                      <a:endParaRPr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Метрика PR‑AUC вместо Accuracy</a:t>
                      </a:r>
                      <a:endParaRPr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Аугментация критического класса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Аналитики игнорируют уведомления</a:t>
                      </a:r>
                      <a:r>
                        <a:rPr lang="ru" sz="800"/>
                        <a:t> из-за ложных тревог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Средняя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Кнопки 👍/👎 для сбора фидбека</a:t>
                      </a:r>
                      <a:endParaRPr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Настройка порога срабатывания под клиента</a:t>
                      </a:r>
                      <a:endParaRPr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Четкая приоритизация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Дрейф данных</a:t>
                      </a:r>
                      <a:r>
                        <a:rPr lang="ru" sz="800"/>
                        <a:t> - язык и темы меняются со временем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Средняя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Автоматический мониторинг PSI-метрик</a:t>
                      </a:r>
                      <a:endParaRPr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Дообучение модели при накоплении 200 новых фидбеков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8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800"/>
                        <a:t>Технические сбои</a:t>
                      </a:r>
                      <a:r>
                        <a:rPr lang="ru" sz="800"/>
                        <a:t> (падение парсера, задержки)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Низкая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Docker‑контейнеризация</a:t>
                      </a:r>
                      <a:endParaRPr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Резервное копирование</a:t>
                      </a:r>
                      <a:endParaRPr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Uptime‑мониторинг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3" name="Google Shape;313;p38"/>
          <p:cNvSpPr txBox="1"/>
          <p:nvPr/>
        </p:nvSpPr>
        <p:spPr>
          <a:xfrm>
            <a:off x="387200" y="1293195"/>
            <a:ext cx="857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</a:rPr>
              <a:t>Самый опасный риск - </a:t>
            </a:r>
            <a:r>
              <a:rPr b="1" lang="ru" sz="900">
                <a:solidFill>
                  <a:schemeClr val="dk1"/>
                </a:solidFill>
              </a:rPr>
              <a:t>модель не увидит угрозу</a:t>
            </a:r>
            <a:r>
              <a:rPr lang="ru" sz="900">
                <a:solidFill>
                  <a:schemeClr val="dk1"/>
                </a:solidFill>
              </a:rPr>
              <a:t>. Закрываем его гибридной разметкой и постоянной обратной связью от реальных пользователей. </a:t>
            </a:r>
            <a:endParaRPr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/>
          <p:nvPr/>
        </p:nvSpPr>
        <p:spPr>
          <a:xfrm>
            <a:off x="476275" y="1419498"/>
            <a:ext cx="8420400" cy="28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</a:rPr>
              <a:t>EcoPulse успешно решает ключевую бизнес-проблему, сокращая время реагирования на репутационные угрозы с 2-3 суток до 15 минут. Модель достигла целевых метрик: F1 = 0.82, Recall = 0.83, Precision = 0.80, превысив бейзлайн.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</a:rPr>
              <a:t>EcoPulse смещает точку обнаружения инцидента с постфактум на превентивный контроль: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ru" sz="1200">
                <a:solidFill>
                  <a:schemeClr val="dk1"/>
                </a:solidFill>
              </a:rPr>
              <a:t>Эффект: вместо тушения пожара - упреждающая реакция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ru" sz="1200">
                <a:solidFill>
                  <a:schemeClr val="dk1"/>
                </a:solidFill>
              </a:rPr>
              <a:t>Интеллект: система не только сигнализирует, но и предлагает стратегии ответа (через GigaChat)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ru" sz="1200">
                <a:solidFill>
                  <a:schemeClr val="dk1"/>
                </a:solidFill>
              </a:rPr>
              <a:t>Доказано: метрики превысили бизнес-цели (F1 = 0.82)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320" name="Google Shape;320;p39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Основные выводы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21" name="Google Shape;3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40"/>
          <p:cNvCxnSpPr>
            <a:stCxn id="328" idx="6"/>
          </p:cNvCxnSpPr>
          <p:nvPr/>
        </p:nvCxnSpPr>
        <p:spPr>
          <a:xfrm>
            <a:off x="3070582" y="3494688"/>
            <a:ext cx="2706000" cy="0"/>
          </a:xfrm>
          <a:prstGeom prst="straightConnector1">
            <a:avLst/>
          </a:prstGeom>
          <a:solidFill>
            <a:srgbClr val="000000"/>
          </a:solidFill>
          <a:ln cap="flat" cmpd="sng" w="211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40"/>
          <p:cNvCxnSpPr/>
          <p:nvPr/>
        </p:nvCxnSpPr>
        <p:spPr>
          <a:xfrm>
            <a:off x="5815139" y="3491617"/>
            <a:ext cx="3103800" cy="10500"/>
          </a:xfrm>
          <a:prstGeom prst="straightConnector1">
            <a:avLst/>
          </a:prstGeom>
          <a:solidFill>
            <a:srgbClr val="000000"/>
          </a:solidFill>
          <a:ln cap="flat" cmpd="sng" w="211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40"/>
          <p:cNvSpPr/>
          <p:nvPr/>
        </p:nvSpPr>
        <p:spPr>
          <a:xfrm>
            <a:off x="476250" y="1673100"/>
            <a:ext cx="7291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Inter"/>
                <a:ea typeface="Inter"/>
                <a:cs typeface="Inter"/>
                <a:sym typeface="Inter"/>
              </a:rPr>
              <a:t>Дальнейшие шаги развития проекта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31" name="Google Shape;331;p40"/>
          <p:cNvCxnSpPr>
            <a:endCxn id="328" idx="2"/>
          </p:cNvCxnSpPr>
          <p:nvPr/>
        </p:nvCxnSpPr>
        <p:spPr>
          <a:xfrm flipH="1" rot="10800000">
            <a:off x="475882" y="3494688"/>
            <a:ext cx="2488800" cy="3300"/>
          </a:xfrm>
          <a:prstGeom prst="straightConnector1">
            <a:avLst/>
          </a:prstGeom>
          <a:solidFill>
            <a:srgbClr val="000000"/>
          </a:solidFill>
          <a:ln cap="flat" cmpd="sng" w="211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40"/>
          <p:cNvSpPr/>
          <p:nvPr/>
        </p:nvSpPr>
        <p:spPr>
          <a:xfrm>
            <a:off x="476250" y="3655700"/>
            <a:ext cx="24390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Расширение источников данных (Telegram-каналов)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Улучшение NER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Дашборд “Тренды”</a:t>
            </a:r>
            <a:endParaRPr sz="1200"/>
          </a:p>
        </p:txBody>
      </p:sp>
      <p:sp>
        <p:nvSpPr>
          <p:cNvPr id="333" name="Google Shape;333;p40"/>
          <p:cNvSpPr/>
          <p:nvPr/>
        </p:nvSpPr>
        <p:spPr>
          <a:xfrm>
            <a:off x="3057375" y="3655625"/>
            <a:ext cx="27546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Переход к Multi-modal анализу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Интеграция с BI-системами клиентов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Предиктивный модуль</a:t>
            </a:r>
            <a:endParaRPr sz="1200"/>
          </a:p>
        </p:txBody>
      </p:sp>
      <p:sp>
        <p:nvSpPr>
          <p:cNvPr id="334" name="Google Shape;334;p40"/>
          <p:cNvSpPr/>
          <p:nvPr/>
        </p:nvSpPr>
        <p:spPr>
          <a:xfrm>
            <a:off x="5776575" y="3655700"/>
            <a:ext cx="32292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Автоматическая генерация ответов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White-Label решения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Выход на новые вертикали</a:t>
            </a:r>
            <a:endParaRPr sz="1200"/>
          </a:p>
        </p:txBody>
      </p:sp>
      <p:sp>
        <p:nvSpPr>
          <p:cNvPr id="335" name="Google Shape;335;p40"/>
          <p:cNvSpPr/>
          <p:nvPr/>
        </p:nvSpPr>
        <p:spPr>
          <a:xfrm>
            <a:off x="476250" y="2571750"/>
            <a:ext cx="24390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r>
              <a:rPr b="1" lang="ru" sz="2600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2600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Масштабирование</a:t>
            </a:r>
            <a:r>
              <a:rPr b="1" lang="ru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ru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и углубление</a:t>
            </a:r>
            <a:endParaRPr b="1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Google Shape;336;p40"/>
          <p:cNvSpPr/>
          <p:nvPr/>
        </p:nvSpPr>
        <p:spPr>
          <a:xfrm>
            <a:off x="3070565" y="2572075"/>
            <a:ext cx="25986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r>
              <a:rPr b="1" lang="ru" sz="2600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27</a:t>
            </a:r>
            <a:endParaRPr b="1" sz="2600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Интеллектуализация и новые форматы</a:t>
            </a:r>
            <a:endParaRPr b="1" sz="2600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40"/>
          <p:cNvSpPr/>
          <p:nvPr/>
        </p:nvSpPr>
        <p:spPr>
          <a:xfrm>
            <a:off x="5764740" y="2572175"/>
            <a:ext cx="2439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r>
              <a:rPr b="1" lang="ru" sz="2600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28+</a:t>
            </a:r>
            <a:endParaRPr b="1" sz="2600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Продуктовая экосистема</a:t>
            </a:r>
            <a:endParaRPr b="1" sz="2600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40"/>
          <p:cNvSpPr/>
          <p:nvPr/>
        </p:nvSpPr>
        <p:spPr>
          <a:xfrm>
            <a:off x="475843" y="3444878"/>
            <a:ext cx="105900" cy="1059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0"/>
          <p:cNvSpPr/>
          <p:nvPr/>
        </p:nvSpPr>
        <p:spPr>
          <a:xfrm>
            <a:off x="2964682" y="3441738"/>
            <a:ext cx="105900" cy="1059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0"/>
          <p:cNvSpPr/>
          <p:nvPr/>
        </p:nvSpPr>
        <p:spPr>
          <a:xfrm>
            <a:off x="5719152" y="3441738"/>
            <a:ext cx="105900" cy="1059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0" name="Google Shape;34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1"/>
          <p:cNvSpPr/>
          <p:nvPr/>
        </p:nvSpPr>
        <p:spPr>
          <a:xfrm>
            <a:off x="1317000" y="1590550"/>
            <a:ext cx="65100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Спасибо за внимание!</a:t>
            </a:r>
            <a:endParaRPr b="1" sz="4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Q&amp;A</a:t>
            </a:r>
            <a:endParaRPr b="1" sz="4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https://pitch-assets-ccb95893-de3f-4266-973c-20049231b248.s3.eu-west-1.amazonaws.com/0e85026a-008d-4f73-b555-d556e9b7acd4?pitch-bytes=4898&amp;pitch-content-type=image%2Fsvg%2Bxml" id="347" name="Google Shape;34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574" y="4476231"/>
            <a:ext cx="707491" cy="191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efa381c9-5c10-4380-abee-d4f3f03ddc9d?pitch-bytes=3032&amp;pitch-content-type=image%2Fsvg%2Bxml" id="348" name="Google Shape;34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007" y="4534270"/>
            <a:ext cx="1673573" cy="13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250" y="4419750"/>
            <a:ext cx="1326484" cy="36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2"/>
          <p:cNvSpPr/>
          <p:nvPr/>
        </p:nvSpPr>
        <p:spPr>
          <a:xfrm>
            <a:off x="476250" y="476250"/>
            <a:ext cx="65100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Контакты</a:t>
            </a:r>
            <a:endParaRPr i="0" sz="4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6" name="Google Shape;356;p42"/>
          <p:cNvSpPr/>
          <p:nvPr/>
        </p:nvSpPr>
        <p:spPr>
          <a:xfrm>
            <a:off x="2277549" y="1848461"/>
            <a:ext cx="310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Кибенко Дарья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42"/>
          <p:cNvSpPr/>
          <p:nvPr/>
        </p:nvSpPr>
        <p:spPr>
          <a:xfrm>
            <a:off x="2314661" y="2295720"/>
            <a:ext cx="245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+79220540549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8" name="Google Shape;358;p42"/>
          <p:cNvSpPr/>
          <p:nvPr/>
        </p:nvSpPr>
        <p:spPr>
          <a:xfrm>
            <a:off x="2314661" y="2490651"/>
            <a:ext cx="245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dasha-kibenko@yandex.ru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tg: @Dar_A_K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https://pitch-assets-ccb95893-de3f-4266-973c-20049231b248.s3.eu-west-1.amazonaws.com/0e85026a-008d-4f73-b555-d556e9b7acd4?pitch-bytes=4898&amp;pitch-content-type=image%2Fsvg%2Bxml" id="359" name="Google Shape;35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574" y="4476231"/>
            <a:ext cx="707491" cy="191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efa381c9-5c10-4380-abee-d4f3f03ddc9d?pitch-bytes=3032&amp;pitch-content-type=image%2Fsvg%2Bxml" id="360" name="Google Shape;36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007" y="4534270"/>
            <a:ext cx="1673573" cy="13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250" y="4419750"/>
            <a:ext cx="1326484" cy="366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2" name="Google Shape;362;p42"/>
          <p:cNvGrpSpPr/>
          <p:nvPr/>
        </p:nvGrpSpPr>
        <p:grpSpPr>
          <a:xfrm>
            <a:off x="931946" y="1654193"/>
            <a:ext cx="1108979" cy="1433326"/>
            <a:chOff x="8054820" y="2416399"/>
            <a:chExt cx="264433" cy="353454"/>
          </a:xfrm>
        </p:grpSpPr>
        <p:sp>
          <p:nvSpPr>
            <p:cNvPr id="363" name="Google Shape;363;p42"/>
            <p:cNvSpPr/>
            <p:nvPr/>
          </p:nvSpPr>
          <p:spPr>
            <a:xfrm>
              <a:off x="8148371" y="2538621"/>
              <a:ext cx="10201" cy="15872"/>
            </a:xfrm>
            <a:custGeom>
              <a:rect b="b" l="l" r="r" t="t"/>
              <a:pathLst>
                <a:path extrusionOk="0" h="501" w="322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334"/>
                  </a:lnTo>
                  <a:cubicBezTo>
                    <a:pt x="0" y="429"/>
                    <a:pt x="72" y="500"/>
                    <a:pt x="155" y="500"/>
                  </a:cubicBezTo>
                  <a:cubicBezTo>
                    <a:pt x="250" y="500"/>
                    <a:pt x="322" y="429"/>
                    <a:pt x="322" y="334"/>
                  </a:cubicBezTo>
                  <a:lnTo>
                    <a:pt x="322" y="155"/>
                  </a:lnTo>
                  <a:cubicBezTo>
                    <a:pt x="310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275" lIns="110275" spcFirstLastPara="1" rIns="110275" wrap="square" tIns="11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2"/>
            <p:cNvSpPr/>
            <p:nvPr/>
          </p:nvSpPr>
          <p:spPr>
            <a:xfrm>
              <a:off x="8214361" y="2538621"/>
              <a:ext cx="10233" cy="15872"/>
            </a:xfrm>
            <a:custGeom>
              <a:rect b="b" l="l" r="r" t="t"/>
              <a:pathLst>
                <a:path extrusionOk="0" h="501" w="323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334"/>
                  </a:lnTo>
                  <a:cubicBezTo>
                    <a:pt x="1" y="429"/>
                    <a:pt x="72" y="500"/>
                    <a:pt x="156" y="500"/>
                  </a:cubicBezTo>
                  <a:cubicBezTo>
                    <a:pt x="251" y="500"/>
                    <a:pt x="322" y="429"/>
                    <a:pt x="322" y="334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275" lIns="110275" spcFirstLastPara="1" rIns="110275" wrap="square" tIns="11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2"/>
            <p:cNvSpPr/>
            <p:nvPr/>
          </p:nvSpPr>
          <p:spPr>
            <a:xfrm>
              <a:off x="8054820" y="2416399"/>
              <a:ext cx="264433" cy="353454"/>
            </a:xfrm>
            <a:custGeom>
              <a:rect b="b" l="l" r="r" t="t"/>
              <a:pathLst>
                <a:path extrusionOk="0" h="11157" w="8347">
                  <a:moveTo>
                    <a:pt x="1703" y="5025"/>
                  </a:moveTo>
                  <a:cubicBezTo>
                    <a:pt x="1787" y="5204"/>
                    <a:pt x="1882" y="5418"/>
                    <a:pt x="1882" y="5573"/>
                  </a:cubicBezTo>
                  <a:cubicBezTo>
                    <a:pt x="1882" y="5680"/>
                    <a:pt x="1787" y="5763"/>
                    <a:pt x="1703" y="5763"/>
                  </a:cubicBezTo>
                  <a:cubicBezTo>
                    <a:pt x="1608" y="5763"/>
                    <a:pt x="1525" y="5668"/>
                    <a:pt x="1525" y="5573"/>
                  </a:cubicBezTo>
                  <a:cubicBezTo>
                    <a:pt x="1525" y="5430"/>
                    <a:pt x="1608" y="5204"/>
                    <a:pt x="1703" y="5025"/>
                  </a:cubicBezTo>
                  <a:close/>
                  <a:moveTo>
                    <a:pt x="6585" y="5025"/>
                  </a:moveTo>
                  <a:cubicBezTo>
                    <a:pt x="6668" y="5204"/>
                    <a:pt x="6763" y="5418"/>
                    <a:pt x="6763" y="5573"/>
                  </a:cubicBezTo>
                  <a:cubicBezTo>
                    <a:pt x="6763" y="5680"/>
                    <a:pt x="6668" y="5763"/>
                    <a:pt x="6585" y="5763"/>
                  </a:cubicBezTo>
                  <a:cubicBezTo>
                    <a:pt x="6490" y="5763"/>
                    <a:pt x="6406" y="5668"/>
                    <a:pt x="6406" y="5573"/>
                  </a:cubicBezTo>
                  <a:cubicBezTo>
                    <a:pt x="6406" y="5430"/>
                    <a:pt x="6490" y="5204"/>
                    <a:pt x="6585" y="5025"/>
                  </a:cubicBezTo>
                  <a:close/>
                  <a:moveTo>
                    <a:pt x="4144" y="322"/>
                  </a:moveTo>
                  <a:cubicBezTo>
                    <a:pt x="6073" y="322"/>
                    <a:pt x="7633" y="1894"/>
                    <a:pt x="7633" y="3823"/>
                  </a:cubicBezTo>
                  <a:cubicBezTo>
                    <a:pt x="7633" y="5847"/>
                    <a:pt x="6478" y="7752"/>
                    <a:pt x="6299" y="8049"/>
                  </a:cubicBezTo>
                  <a:lnTo>
                    <a:pt x="5716" y="7847"/>
                  </a:lnTo>
                  <a:cubicBezTo>
                    <a:pt x="5513" y="7764"/>
                    <a:pt x="5358" y="7561"/>
                    <a:pt x="5358" y="7335"/>
                  </a:cubicBezTo>
                  <a:lnTo>
                    <a:pt x="5358" y="6621"/>
                  </a:lnTo>
                  <a:cubicBezTo>
                    <a:pt x="5692" y="6430"/>
                    <a:pt x="5966" y="6180"/>
                    <a:pt x="6180" y="5859"/>
                  </a:cubicBezTo>
                  <a:cubicBezTo>
                    <a:pt x="6263" y="6001"/>
                    <a:pt x="6418" y="6073"/>
                    <a:pt x="6597" y="6073"/>
                  </a:cubicBezTo>
                  <a:cubicBezTo>
                    <a:pt x="6882" y="6073"/>
                    <a:pt x="7097" y="5847"/>
                    <a:pt x="7097" y="5561"/>
                  </a:cubicBezTo>
                  <a:cubicBezTo>
                    <a:pt x="7097" y="5323"/>
                    <a:pt x="6966" y="5025"/>
                    <a:pt x="6859" y="4823"/>
                  </a:cubicBezTo>
                  <a:cubicBezTo>
                    <a:pt x="7097" y="4751"/>
                    <a:pt x="7275" y="4525"/>
                    <a:pt x="7275" y="4251"/>
                  </a:cubicBezTo>
                  <a:cubicBezTo>
                    <a:pt x="7275" y="3930"/>
                    <a:pt x="7013" y="3656"/>
                    <a:pt x="6680" y="3656"/>
                  </a:cubicBezTo>
                  <a:lnTo>
                    <a:pt x="6597" y="3656"/>
                  </a:lnTo>
                  <a:cubicBezTo>
                    <a:pt x="6597" y="3656"/>
                    <a:pt x="6585" y="3656"/>
                    <a:pt x="6585" y="3644"/>
                  </a:cubicBezTo>
                  <a:lnTo>
                    <a:pt x="6585" y="3120"/>
                  </a:lnTo>
                  <a:cubicBezTo>
                    <a:pt x="6585" y="2453"/>
                    <a:pt x="6049" y="1918"/>
                    <a:pt x="5370" y="1918"/>
                  </a:cubicBezTo>
                  <a:lnTo>
                    <a:pt x="5192" y="1918"/>
                  </a:lnTo>
                  <a:cubicBezTo>
                    <a:pt x="5108" y="1918"/>
                    <a:pt x="5037" y="1989"/>
                    <a:pt x="5037" y="2084"/>
                  </a:cubicBezTo>
                  <a:cubicBezTo>
                    <a:pt x="5037" y="2168"/>
                    <a:pt x="5108" y="2251"/>
                    <a:pt x="5192" y="2251"/>
                  </a:cubicBezTo>
                  <a:lnTo>
                    <a:pt x="5370" y="2251"/>
                  </a:lnTo>
                  <a:cubicBezTo>
                    <a:pt x="5870" y="2251"/>
                    <a:pt x="6251" y="2644"/>
                    <a:pt x="6251" y="3120"/>
                  </a:cubicBezTo>
                  <a:lnTo>
                    <a:pt x="6251" y="3644"/>
                  </a:lnTo>
                  <a:cubicBezTo>
                    <a:pt x="6251" y="3823"/>
                    <a:pt x="6406" y="3989"/>
                    <a:pt x="6597" y="3989"/>
                  </a:cubicBezTo>
                  <a:lnTo>
                    <a:pt x="6680" y="3989"/>
                  </a:lnTo>
                  <a:cubicBezTo>
                    <a:pt x="6835" y="3989"/>
                    <a:pt x="6954" y="4108"/>
                    <a:pt x="6954" y="4251"/>
                  </a:cubicBezTo>
                  <a:cubicBezTo>
                    <a:pt x="6954" y="4406"/>
                    <a:pt x="6835" y="4525"/>
                    <a:pt x="6680" y="4525"/>
                  </a:cubicBezTo>
                  <a:lnTo>
                    <a:pt x="6585" y="4525"/>
                  </a:lnTo>
                  <a:lnTo>
                    <a:pt x="6585" y="4501"/>
                  </a:lnTo>
                  <a:cubicBezTo>
                    <a:pt x="6585" y="4418"/>
                    <a:pt x="6501" y="4346"/>
                    <a:pt x="6418" y="4346"/>
                  </a:cubicBezTo>
                  <a:cubicBezTo>
                    <a:pt x="6323" y="4346"/>
                    <a:pt x="6251" y="4418"/>
                    <a:pt x="6251" y="4501"/>
                  </a:cubicBezTo>
                  <a:cubicBezTo>
                    <a:pt x="6251" y="5668"/>
                    <a:pt x="5311" y="6609"/>
                    <a:pt x="4156" y="6609"/>
                  </a:cubicBezTo>
                  <a:cubicBezTo>
                    <a:pt x="2989" y="6609"/>
                    <a:pt x="2060" y="5668"/>
                    <a:pt x="2060" y="4501"/>
                  </a:cubicBezTo>
                  <a:cubicBezTo>
                    <a:pt x="2060" y="4418"/>
                    <a:pt x="1977" y="4346"/>
                    <a:pt x="1894" y="4346"/>
                  </a:cubicBezTo>
                  <a:cubicBezTo>
                    <a:pt x="1798" y="4346"/>
                    <a:pt x="1727" y="4418"/>
                    <a:pt x="1727" y="4501"/>
                  </a:cubicBezTo>
                  <a:lnTo>
                    <a:pt x="1727" y="4525"/>
                  </a:lnTo>
                  <a:lnTo>
                    <a:pt x="1620" y="4525"/>
                  </a:lnTo>
                  <a:cubicBezTo>
                    <a:pt x="1477" y="4525"/>
                    <a:pt x="1358" y="4406"/>
                    <a:pt x="1358" y="4251"/>
                  </a:cubicBezTo>
                  <a:cubicBezTo>
                    <a:pt x="1358" y="4108"/>
                    <a:pt x="1477" y="3989"/>
                    <a:pt x="1620" y="3989"/>
                  </a:cubicBezTo>
                  <a:lnTo>
                    <a:pt x="1715" y="3989"/>
                  </a:lnTo>
                  <a:cubicBezTo>
                    <a:pt x="1894" y="3989"/>
                    <a:pt x="2060" y="3835"/>
                    <a:pt x="2060" y="3644"/>
                  </a:cubicBezTo>
                  <a:lnTo>
                    <a:pt x="2060" y="3120"/>
                  </a:lnTo>
                  <a:cubicBezTo>
                    <a:pt x="2060" y="2632"/>
                    <a:pt x="2453" y="2251"/>
                    <a:pt x="2930" y="2251"/>
                  </a:cubicBezTo>
                  <a:lnTo>
                    <a:pt x="4501" y="2251"/>
                  </a:lnTo>
                  <a:cubicBezTo>
                    <a:pt x="4585" y="2251"/>
                    <a:pt x="4656" y="2168"/>
                    <a:pt x="4656" y="2084"/>
                  </a:cubicBezTo>
                  <a:cubicBezTo>
                    <a:pt x="4656" y="1989"/>
                    <a:pt x="4585" y="1918"/>
                    <a:pt x="4501" y="1918"/>
                  </a:cubicBezTo>
                  <a:lnTo>
                    <a:pt x="2930" y="1918"/>
                  </a:lnTo>
                  <a:cubicBezTo>
                    <a:pt x="2632" y="1918"/>
                    <a:pt x="2394" y="1679"/>
                    <a:pt x="2394" y="1382"/>
                  </a:cubicBezTo>
                  <a:cubicBezTo>
                    <a:pt x="2394" y="798"/>
                    <a:pt x="3025" y="322"/>
                    <a:pt x="3799" y="322"/>
                  </a:cubicBezTo>
                  <a:close/>
                  <a:moveTo>
                    <a:pt x="2084" y="1310"/>
                  </a:moveTo>
                  <a:lnTo>
                    <a:pt x="2084" y="1406"/>
                  </a:lnTo>
                  <a:cubicBezTo>
                    <a:pt x="2084" y="1679"/>
                    <a:pt x="2203" y="1918"/>
                    <a:pt x="2394" y="2084"/>
                  </a:cubicBezTo>
                  <a:cubicBezTo>
                    <a:pt x="2013" y="2275"/>
                    <a:pt x="1727" y="2692"/>
                    <a:pt x="1727" y="3156"/>
                  </a:cubicBezTo>
                  <a:lnTo>
                    <a:pt x="1727" y="3680"/>
                  </a:lnTo>
                  <a:cubicBezTo>
                    <a:pt x="1727" y="3680"/>
                    <a:pt x="1727" y="3692"/>
                    <a:pt x="1715" y="3692"/>
                  </a:cubicBezTo>
                  <a:lnTo>
                    <a:pt x="1620" y="3692"/>
                  </a:lnTo>
                  <a:cubicBezTo>
                    <a:pt x="1298" y="3692"/>
                    <a:pt x="1025" y="3954"/>
                    <a:pt x="1025" y="4287"/>
                  </a:cubicBezTo>
                  <a:cubicBezTo>
                    <a:pt x="1025" y="4549"/>
                    <a:pt x="1203" y="4775"/>
                    <a:pt x="1441" y="4847"/>
                  </a:cubicBezTo>
                  <a:cubicBezTo>
                    <a:pt x="1346" y="5037"/>
                    <a:pt x="1203" y="5335"/>
                    <a:pt x="1203" y="5597"/>
                  </a:cubicBezTo>
                  <a:cubicBezTo>
                    <a:pt x="1203" y="5870"/>
                    <a:pt x="1429" y="6097"/>
                    <a:pt x="1715" y="6097"/>
                  </a:cubicBezTo>
                  <a:cubicBezTo>
                    <a:pt x="1894" y="6097"/>
                    <a:pt x="2037" y="6013"/>
                    <a:pt x="2132" y="5894"/>
                  </a:cubicBezTo>
                  <a:cubicBezTo>
                    <a:pt x="2334" y="6204"/>
                    <a:pt x="2620" y="6466"/>
                    <a:pt x="2953" y="6656"/>
                  </a:cubicBezTo>
                  <a:lnTo>
                    <a:pt x="2953" y="7347"/>
                  </a:lnTo>
                  <a:cubicBezTo>
                    <a:pt x="2953" y="7573"/>
                    <a:pt x="2799" y="7787"/>
                    <a:pt x="2584" y="7859"/>
                  </a:cubicBezTo>
                  <a:lnTo>
                    <a:pt x="1965" y="8085"/>
                  </a:lnTo>
                  <a:cubicBezTo>
                    <a:pt x="1715" y="7621"/>
                    <a:pt x="834" y="5847"/>
                    <a:pt x="834" y="3882"/>
                  </a:cubicBezTo>
                  <a:cubicBezTo>
                    <a:pt x="834" y="3275"/>
                    <a:pt x="989" y="2727"/>
                    <a:pt x="1263" y="2227"/>
                  </a:cubicBezTo>
                  <a:cubicBezTo>
                    <a:pt x="1477" y="1870"/>
                    <a:pt x="1739" y="1560"/>
                    <a:pt x="2084" y="1310"/>
                  </a:cubicBezTo>
                  <a:close/>
                  <a:moveTo>
                    <a:pt x="3811" y="1"/>
                  </a:moveTo>
                  <a:cubicBezTo>
                    <a:pt x="3346" y="1"/>
                    <a:pt x="2918" y="132"/>
                    <a:pt x="2608" y="382"/>
                  </a:cubicBezTo>
                  <a:cubicBezTo>
                    <a:pt x="2453" y="489"/>
                    <a:pt x="2358" y="620"/>
                    <a:pt x="2263" y="763"/>
                  </a:cubicBezTo>
                  <a:cubicBezTo>
                    <a:pt x="1715" y="1084"/>
                    <a:pt x="1286" y="1537"/>
                    <a:pt x="1001" y="2037"/>
                  </a:cubicBezTo>
                  <a:cubicBezTo>
                    <a:pt x="691" y="2572"/>
                    <a:pt x="524" y="3192"/>
                    <a:pt x="524" y="3858"/>
                  </a:cubicBezTo>
                  <a:cubicBezTo>
                    <a:pt x="524" y="5108"/>
                    <a:pt x="870" y="6251"/>
                    <a:pt x="1144" y="6990"/>
                  </a:cubicBezTo>
                  <a:cubicBezTo>
                    <a:pt x="1358" y="7525"/>
                    <a:pt x="1548" y="7942"/>
                    <a:pt x="1667" y="8156"/>
                  </a:cubicBezTo>
                  <a:lnTo>
                    <a:pt x="810" y="8454"/>
                  </a:lnTo>
                  <a:cubicBezTo>
                    <a:pt x="334" y="8621"/>
                    <a:pt x="1" y="9073"/>
                    <a:pt x="1" y="9597"/>
                  </a:cubicBezTo>
                  <a:lnTo>
                    <a:pt x="1" y="10954"/>
                  </a:lnTo>
                  <a:cubicBezTo>
                    <a:pt x="1" y="11038"/>
                    <a:pt x="72" y="11121"/>
                    <a:pt x="167" y="11121"/>
                  </a:cubicBezTo>
                  <a:cubicBezTo>
                    <a:pt x="251" y="11121"/>
                    <a:pt x="322" y="11038"/>
                    <a:pt x="322" y="10954"/>
                  </a:cubicBezTo>
                  <a:lnTo>
                    <a:pt x="322" y="9633"/>
                  </a:lnTo>
                  <a:cubicBezTo>
                    <a:pt x="322" y="9252"/>
                    <a:pt x="560" y="8918"/>
                    <a:pt x="917" y="8799"/>
                  </a:cubicBezTo>
                  <a:lnTo>
                    <a:pt x="1191" y="8704"/>
                  </a:lnTo>
                  <a:cubicBezTo>
                    <a:pt x="1810" y="9561"/>
                    <a:pt x="2941" y="10097"/>
                    <a:pt x="4180" y="10097"/>
                  </a:cubicBezTo>
                  <a:cubicBezTo>
                    <a:pt x="4727" y="10097"/>
                    <a:pt x="5287" y="10002"/>
                    <a:pt x="5775" y="9788"/>
                  </a:cubicBezTo>
                  <a:cubicBezTo>
                    <a:pt x="5858" y="9764"/>
                    <a:pt x="5894" y="9657"/>
                    <a:pt x="5858" y="9585"/>
                  </a:cubicBezTo>
                  <a:cubicBezTo>
                    <a:pt x="5840" y="9512"/>
                    <a:pt x="5773" y="9481"/>
                    <a:pt x="5711" y="9481"/>
                  </a:cubicBezTo>
                  <a:cubicBezTo>
                    <a:pt x="5692" y="9481"/>
                    <a:pt x="5673" y="9484"/>
                    <a:pt x="5656" y="9490"/>
                  </a:cubicBezTo>
                  <a:cubicBezTo>
                    <a:pt x="5204" y="9680"/>
                    <a:pt x="4704" y="9788"/>
                    <a:pt x="4180" y="9788"/>
                  </a:cubicBezTo>
                  <a:cubicBezTo>
                    <a:pt x="3096" y="9788"/>
                    <a:pt x="2084" y="9347"/>
                    <a:pt x="1513" y="8609"/>
                  </a:cubicBezTo>
                  <a:lnTo>
                    <a:pt x="2727" y="8180"/>
                  </a:lnTo>
                  <a:cubicBezTo>
                    <a:pt x="3061" y="8061"/>
                    <a:pt x="3299" y="7740"/>
                    <a:pt x="3299" y="7383"/>
                  </a:cubicBezTo>
                  <a:lnTo>
                    <a:pt x="3299" y="6823"/>
                  </a:lnTo>
                  <a:cubicBezTo>
                    <a:pt x="3572" y="6930"/>
                    <a:pt x="3870" y="6990"/>
                    <a:pt x="4180" y="6990"/>
                  </a:cubicBezTo>
                  <a:cubicBezTo>
                    <a:pt x="4489" y="6990"/>
                    <a:pt x="4787" y="6930"/>
                    <a:pt x="5061" y="6823"/>
                  </a:cubicBezTo>
                  <a:lnTo>
                    <a:pt x="5061" y="7383"/>
                  </a:lnTo>
                  <a:cubicBezTo>
                    <a:pt x="5061" y="7740"/>
                    <a:pt x="5287" y="8061"/>
                    <a:pt x="5644" y="8180"/>
                  </a:cubicBezTo>
                  <a:lnTo>
                    <a:pt x="6847" y="8609"/>
                  </a:lnTo>
                  <a:cubicBezTo>
                    <a:pt x="6680" y="8823"/>
                    <a:pt x="6478" y="9014"/>
                    <a:pt x="6239" y="9180"/>
                  </a:cubicBezTo>
                  <a:cubicBezTo>
                    <a:pt x="6156" y="9228"/>
                    <a:pt x="6144" y="9323"/>
                    <a:pt x="6192" y="9407"/>
                  </a:cubicBezTo>
                  <a:cubicBezTo>
                    <a:pt x="6216" y="9442"/>
                    <a:pt x="6275" y="9478"/>
                    <a:pt x="6323" y="9478"/>
                  </a:cubicBezTo>
                  <a:cubicBezTo>
                    <a:pt x="6359" y="9478"/>
                    <a:pt x="6382" y="9466"/>
                    <a:pt x="6418" y="9442"/>
                  </a:cubicBezTo>
                  <a:cubicBezTo>
                    <a:pt x="6716" y="9240"/>
                    <a:pt x="6966" y="9002"/>
                    <a:pt x="7156" y="8716"/>
                  </a:cubicBezTo>
                  <a:lnTo>
                    <a:pt x="7430" y="8811"/>
                  </a:lnTo>
                  <a:cubicBezTo>
                    <a:pt x="7787" y="8930"/>
                    <a:pt x="8025" y="9264"/>
                    <a:pt x="8025" y="9645"/>
                  </a:cubicBezTo>
                  <a:lnTo>
                    <a:pt x="8025" y="10990"/>
                  </a:lnTo>
                  <a:cubicBezTo>
                    <a:pt x="8025" y="11085"/>
                    <a:pt x="8097" y="11157"/>
                    <a:pt x="8180" y="11157"/>
                  </a:cubicBezTo>
                  <a:cubicBezTo>
                    <a:pt x="8275" y="11157"/>
                    <a:pt x="8347" y="11085"/>
                    <a:pt x="8347" y="10990"/>
                  </a:cubicBezTo>
                  <a:lnTo>
                    <a:pt x="8347" y="9633"/>
                  </a:lnTo>
                  <a:cubicBezTo>
                    <a:pt x="8323" y="9109"/>
                    <a:pt x="7990" y="8657"/>
                    <a:pt x="7513" y="8478"/>
                  </a:cubicBezTo>
                  <a:lnTo>
                    <a:pt x="6620" y="8168"/>
                  </a:lnTo>
                  <a:cubicBezTo>
                    <a:pt x="6740" y="7978"/>
                    <a:pt x="7013" y="7525"/>
                    <a:pt x="7263" y="6918"/>
                  </a:cubicBezTo>
                  <a:cubicBezTo>
                    <a:pt x="7847" y="5561"/>
                    <a:pt x="7978" y="4489"/>
                    <a:pt x="7978" y="3823"/>
                  </a:cubicBezTo>
                  <a:cubicBezTo>
                    <a:pt x="7978" y="1703"/>
                    <a:pt x="6263" y="1"/>
                    <a:pt x="41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275" lIns="110275" spcFirstLastPara="1" rIns="110275" wrap="square" tIns="11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2"/>
            <p:cNvSpPr/>
            <p:nvPr/>
          </p:nvSpPr>
          <p:spPr>
            <a:xfrm>
              <a:off x="8164972" y="2582371"/>
              <a:ext cx="43782" cy="15492"/>
            </a:xfrm>
            <a:custGeom>
              <a:rect b="b" l="l" r="r" t="t"/>
              <a:pathLst>
                <a:path extrusionOk="0" h="489" w="1382">
                  <a:moveTo>
                    <a:pt x="179" y="0"/>
                  </a:moveTo>
                  <a:cubicBezTo>
                    <a:pt x="140" y="0"/>
                    <a:pt x="101" y="12"/>
                    <a:pt x="72" y="36"/>
                  </a:cubicBezTo>
                  <a:cubicBezTo>
                    <a:pt x="0" y="96"/>
                    <a:pt x="0" y="203"/>
                    <a:pt x="72" y="262"/>
                  </a:cubicBezTo>
                  <a:cubicBezTo>
                    <a:pt x="203" y="393"/>
                    <a:pt x="441" y="489"/>
                    <a:pt x="703" y="489"/>
                  </a:cubicBezTo>
                  <a:cubicBezTo>
                    <a:pt x="965" y="489"/>
                    <a:pt x="1191" y="393"/>
                    <a:pt x="1346" y="262"/>
                  </a:cubicBezTo>
                  <a:cubicBezTo>
                    <a:pt x="1381" y="203"/>
                    <a:pt x="1381" y="120"/>
                    <a:pt x="1322" y="36"/>
                  </a:cubicBezTo>
                  <a:cubicBezTo>
                    <a:pt x="1292" y="12"/>
                    <a:pt x="1250" y="0"/>
                    <a:pt x="1209" y="0"/>
                  </a:cubicBezTo>
                  <a:cubicBezTo>
                    <a:pt x="1167" y="0"/>
                    <a:pt x="1125" y="12"/>
                    <a:pt x="1096" y="36"/>
                  </a:cubicBezTo>
                  <a:cubicBezTo>
                    <a:pt x="1036" y="96"/>
                    <a:pt x="881" y="179"/>
                    <a:pt x="691" y="179"/>
                  </a:cubicBezTo>
                  <a:cubicBezTo>
                    <a:pt x="488" y="179"/>
                    <a:pt x="346" y="96"/>
                    <a:pt x="286" y="36"/>
                  </a:cubicBezTo>
                  <a:cubicBezTo>
                    <a:pt x="256" y="12"/>
                    <a:pt x="218" y="0"/>
                    <a:pt x="1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275" lIns="110275" spcFirstLastPara="1" rIns="110275" wrap="square" tIns="11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2"/>
            <p:cNvSpPr/>
            <p:nvPr/>
          </p:nvSpPr>
          <p:spPr>
            <a:xfrm>
              <a:off x="8141592" y="2519137"/>
              <a:ext cx="18501" cy="13844"/>
            </a:xfrm>
            <a:custGeom>
              <a:rect b="b" l="l" r="r" t="t"/>
              <a:pathLst>
                <a:path extrusionOk="0" h="437" w="584">
                  <a:moveTo>
                    <a:pt x="404" y="1"/>
                  </a:moveTo>
                  <a:cubicBezTo>
                    <a:pt x="381" y="1"/>
                    <a:pt x="357" y="7"/>
                    <a:pt x="333" y="20"/>
                  </a:cubicBezTo>
                  <a:lnTo>
                    <a:pt x="119" y="115"/>
                  </a:lnTo>
                  <a:cubicBezTo>
                    <a:pt x="48" y="163"/>
                    <a:pt x="0" y="258"/>
                    <a:pt x="48" y="341"/>
                  </a:cubicBezTo>
                  <a:cubicBezTo>
                    <a:pt x="71" y="401"/>
                    <a:pt x="131" y="437"/>
                    <a:pt x="191" y="437"/>
                  </a:cubicBezTo>
                  <a:cubicBezTo>
                    <a:pt x="226" y="437"/>
                    <a:pt x="238" y="437"/>
                    <a:pt x="274" y="413"/>
                  </a:cubicBezTo>
                  <a:lnTo>
                    <a:pt x="476" y="318"/>
                  </a:lnTo>
                  <a:cubicBezTo>
                    <a:pt x="548" y="270"/>
                    <a:pt x="583" y="163"/>
                    <a:pt x="548" y="91"/>
                  </a:cubicBezTo>
                  <a:cubicBezTo>
                    <a:pt x="522" y="40"/>
                    <a:pt x="465" y="1"/>
                    <a:pt x="4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275" lIns="110275" spcFirstLastPara="1" rIns="110275" wrap="square" tIns="11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2"/>
            <p:cNvSpPr/>
            <p:nvPr/>
          </p:nvSpPr>
          <p:spPr>
            <a:xfrm>
              <a:off x="8211731" y="2518409"/>
              <a:ext cx="18881" cy="13812"/>
            </a:xfrm>
            <a:custGeom>
              <a:rect b="b" l="l" r="r" t="t"/>
              <a:pathLst>
                <a:path extrusionOk="0" h="436" w="596">
                  <a:moveTo>
                    <a:pt x="208" y="0"/>
                  </a:moveTo>
                  <a:cubicBezTo>
                    <a:pt x="148" y="0"/>
                    <a:pt x="83" y="39"/>
                    <a:pt x="48" y="91"/>
                  </a:cubicBezTo>
                  <a:cubicBezTo>
                    <a:pt x="1" y="174"/>
                    <a:pt x="48" y="269"/>
                    <a:pt x="120" y="317"/>
                  </a:cubicBezTo>
                  <a:lnTo>
                    <a:pt x="334" y="424"/>
                  </a:lnTo>
                  <a:cubicBezTo>
                    <a:pt x="358" y="436"/>
                    <a:pt x="382" y="436"/>
                    <a:pt x="405" y="436"/>
                  </a:cubicBezTo>
                  <a:cubicBezTo>
                    <a:pt x="465" y="436"/>
                    <a:pt x="524" y="412"/>
                    <a:pt x="560" y="353"/>
                  </a:cubicBezTo>
                  <a:cubicBezTo>
                    <a:pt x="596" y="257"/>
                    <a:pt x="572" y="174"/>
                    <a:pt x="477" y="126"/>
                  </a:cubicBezTo>
                  <a:lnTo>
                    <a:pt x="274" y="19"/>
                  </a:lnTo>
                  <a:cubicBezTo>
                    <a:pt x="255" y="6"/>
                    <a:pt x="232" y="0"/>
                    <a:pt x="2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275" lIns="110275" spcFirstLastPara="1" rIns="110275" wrap="square" tIns="11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000000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